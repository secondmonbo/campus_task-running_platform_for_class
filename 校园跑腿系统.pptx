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174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（约15秒）各位老师、各位同学好，我们是邱禾勋小组。下面由我代表小组汇报校园跑腿系统的需求分析成果。文档编号 CTS-SRS-0001，已形成需求基线。本次汇报的重点是项目背景和主要功能，最后说明需求规模、需求追溯与下一步计划。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15秒）汇报分五个部分：先讲项目背景，这是本次答辩的第一个重点；然后说明系统定位与目标；接着重点介绍主要功能，包括九大功能模块和核心业务流程闭环；再汇报需求规模与需求追溯；最后是非功能需求和下一步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（约5秒）下面进入第一部分，项目背景。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40秒）先看项目背景。在校园生活中，学生经常存在大量“顺路即可完成”的即时性需求：取快递、带饭、代买日用品、送材料到另一栋教学楼、还书等等。这些需求有三个共同特点——报酬低、时间紧、地点分散。正因为这样，它们很难靠熟人临时帮忙稳定解决。目前这些需求主要靠在宿舍群、班级群里临时喊人来完成，缺少一个专门的承载平台，这就是我们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40秒）现有解决方式有三个很明显的痛点。第一，信息不集中，需求散落在多个聊天群里，发出后很快被刷屏，发布者和接单者都难以匹配。第二，没有约束机制，双方全靠口头约定，出现爽约、拖延、物品损坏时，既没有记录，也没有调解依据。第三，报酬结算不便，线下转账金额小、频次高，双方都觉得麻烦，还容易忘记。结果就是需求方找不到人，愿意跑腿的同学也接不到单。把这三个痛点集中起来解决，就是这个项目的价值所在；同时作为课程项目，它也是一次软件工程方法的完整演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35秒）我们的解决思路是用一个平台同时回应这三个痛点：用统一的任务池解决信息不集中，任务发布后自动进入待接单池，所有跑腿员都能看到；用状态加日志解决没有约束的问题，任务有五种状态规范流转，关键操作自动留痕；用虚拟币自动结算解决结算不便，发布时扣款暂存，完成时自动入账并生成流水。同时保留取消、争议和投诉机制作为异常兜底。这里特别说明边界：系统不接入任何真实支付渠道，不产生真实资金往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30秒）系统目标是打造一个界面简洁、流程闭环、过程可追溯的校园跑腿任务平台。我们总结出四个项目特色：一是完整闭环，从发布到评价每一步都有状态和责任人；二是校内场景适配，用取件地点和送件地点两个字段直接对应宿舍楼、教学楼、快递站，比通用平台的“地址”更贴合校园习惯；三是虚拟币结算；四是可追溯可调解，日志、取消、裁决和投诉构成完整的事后处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25秒）系统有三类用户。发布者是在校师生，有代取代买代送需求，使用频次中等，希望发出去就有人接；跑腿员是在校学生，利用空闲时间接单赚积分，使用频次高，最关注报酬和地点是否顺路；管理员负责日常监管，关注异常任务、争议订单和投诉。需要说明的是，发布者和跑腿员并不互斥，同一个账号既可以发布任务也可以接单，通过动作来体现当前身份，这样也避免了维护两套账号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（约5秒）下面进入第二部分，也是本次汇报的重点——主要功能。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30秒）这是第二个重点——主要功能。九个模块可以按一条主线来记：注册登录、发布任务、接单执行、送达验收、结算、评价；围绕这条主线还有四块横切功能——积分账务、异常与争议处理、后台监管、消息与日志。屏幕上已经把每个模块包含的功能逐条写明，我不逐条念，下面只挑流程上的关键点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（约25秒）这张图是文档第 3 章的全系统顶层用例图。左边是三类外部角色：发布者、跑腿员、管理员；右边是系统的九个功能模块。可以看到发布者和跑腿员共用同一批用例，管理员单独一组，这也对应我们前面说的一个账号两种身份的设计。更细的模块分解用例图在文档 3.3 节里，每一节都配了对应的分解图，这里不逐张放。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35秒）九个模块围绕一条主线组织起来，就是屏幕上的核心业务闭环：发布、接单、送达、验收、结算、评价。整个过程对应五种任务状态：发布成功进入待接单；被接单转为进行中，同时移出待接单池；跑腿员确认送达转为待验收并通知发布者；发布者确认完成转为已完成，报酬入账并生成流水；双方同意取消或管理员裁决则转为已取消。这里有一条重要约束：同一任务任意时刻只处于一种状态，只能由对应的业务操作触发，系统不提供直接改状态的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（约22秒）这一页只讲两个要点。第一是账号安全：连续三次密码错误锁定账号 30 分钟，越权访问管理端一律拒绝并留痕。第二是任务发布：六个字段必填，而且发布时就扣款暂存，这样跑腿员的收益不会因为发布者余额不足而拿不到。其余校验规则和筛选条件屏幕上都有，不逐条展开。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35秒）这一页是功能设计的核心，讲三个关键点。第一，并发抢单：多人同时点接单，系统只允许一个人成功，其余人收到“该任务已被他人认领”的提示，不会出现一单多人接。第二，结算的一致性：任务状态更新和报酬入账必须在同一个事务中完成，要么全部成功、要么全部失败；同时做了重复结算防护，同一任务重复确认，报酬只增加一次。第三，冲突处理：接单、取消、送达、验收发生冲突时，只有符合最新状态的那一次操作会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22秒）这一页是账务和异常兜底。账务上，每笔变动都生成流水，记录流水类型、变动金额和变动后余额，跑腿员可以随时查累计收益和明细。异常上，取消必须走申请流程：对方同意才取消并退回报酬，不同意就转为争议由管理员裁决；超过截止时间 24 小时仍未完成的，判定为异常订单，管理员可以强制取消。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20秒）最后一页功能是监管与留痕。管理端是监管入口，用户、任务、交易都能按条件查，异常订单、投诉和操作日志都在这里处理；通知由系统在状态变更时自动发送。这里强调一点：关键操作日志只能新增，不能修改也不能删除，这样事后审计才站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（约5秒）最后一部分，需求规模、需求追溯与非功能约束。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（约25秒）需求规模方面：功能需求划分为九个模块，系统需求分配表逐条编号，从 1.1.0 到 9.6.0，表内共 45 条编号需求，全部以网页方式实现。用户需求沿用简要用户需求列表的 25 条，不重新编号。第 9 章建立了用户需求与系统需求的逐条对照表，共 42 行，作为需求跟踪矩阵的维护依据；25 条用户需求中有 23 条映射到具体系统需求编号，另外 2 条属于非功能需求，在第 5 章的性能需求中落实。每条用例都按八要素填写，优先级用 1 到 6 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（约25秒）非功能需求也已经量化：任务列表页面 2 秒内加载，其余页面 4 秒内，这是在 100 名用户并发条件下测量的指标；数据一致性方面不允许重复扣款、重复加钱或漏记流水；容量按 1000 名注册用户、单日 200 条任务、累计 10 万条流水预估。安全和私密性方面，密码不明文存储传输，联系方式只对任务相关方和管理员可见。技术约束是 B/S 架构，前端 Vue、后端 SpringBoot、数据库 MySQL 8.0，运行在 JDK 11 和 Tomcat 9.0 上；开发过程统一用 Git 分支加 Pull Request。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微软雅黑"/>
              </a:rPr>
              <a:t>（约20秒）最后总结：背景上，校园即时性需求报酬低、时间紧、地点分散，现有群聊方式在匹配、约束和结算三方面失效；方案上，我们用统一任务池、五状态闭环、虚拟币自动结算以及日志与争议机制逐条回应这些痛点；功能上，九个模块覆盖了从发布到评价的完整流程，并保证状态一致和过程可追溯；需求上，25 条用户需求与系统需求逐条对照，非功能指标全部量化。下一步我们将进入概要设计阶段，完成数据库表结构、接口定义以及分析类图、顺序图和状态图。我的汇报到此结束，谢谢各位老师和同学，请批评指正。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029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86384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校园跑腿系统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>
                <a:solidFill>
                  <a:srgbClr val="C9D9F0"/>
                </a:solidFill>
                <a:latin typeface="微软雅黑"/>
                <a:ea typeface="微软雅黑"/>
                <a:cs typeface="微软雅黑"/>
              </a:rPr>
              <a:t>系统需求分析 · 答辩汇报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9FB8DC"/>
                </a:solidFill>
                <a:latin typeface="微软雅黑"/>
                <a:ea typeface="微软雅黑"/>
                <a:cs typeface="微软雅黑"/>
              </a:rPr>
              <a:t>需求基线 v1.0　|　文档编号 CTS-SRS-0001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18688"/>
            <a:ext cx="4892040" cy="2331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3438144"/>
            <a:ext cx="43891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汇报单位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计算机学院 2024 级《问题求解实战》课程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邱禾勋小组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组　员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邱禾勋　王宏涛　沈阳　薛苏娜　王晗睿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218688"/>
            <a:ext cx="4892040" cy="2331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3438144"/>
            <a:ext cx="438912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dirty="0" err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汇报时间</a:t>
            </a:r>
            <a:endParaRPr sz="1200" b="1" dirty="0">
              <a:solidFill>
                <a:srgbClr val="2E74B5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2026 年 9 月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dirty="0" err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汇报重点：项目背景与主要功能</a:t>
            </a:r>
            <a:endParaRPr sz="1300" b="1" dirty="0">
              <a:solidFill>
                <a:srgbClr val="1F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62727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C9D9F0"/>
                </a:solidFill>
                <a:latin typeface="微软雅黑"/>
                <a:ea typeface="微软雅黑"/>
                <a:cs typeface="微软雅黑"/>
              </a:rPr>
              <a:t>四川大学计算机学院　·　需求分析阶段答辩　·　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2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1673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53312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需求从哪里来，现有方式有什么问题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51008" y="1426464"/>
            <a:ext cx="786384" cy="310896"/>
          </a:xfrm>
          <a:prstGeom prst="roundRect">
            <a:avLst>
              <a:gd name="adj" fmla="val 30000"/>
            </a:avLst>
          </a:prstGeom>
          <a:solidFill>
            <a:srgbClr val="DCE6F2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51008" y="1463040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029968"/>
            <a:ext cx="9692640" cy="10973"/>
          </a:xfrm>
          <a:prstGeom prst="rect">
            <a:avLst/>
          </a:prstGeom>
          <a:solidFill>
            <a:srgbClr val="DC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232257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4086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项目定位与目标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系统目标、项目特色、用户角色与权限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054096"/>
            <a:ext cx="9692640" cy="10973"/>
          </a:xfrm>
          <a:prstGeom prst="rect">
            <a:avLst/>
          </a:prstGeom>
          <a:solidFill>
            <a:srgbClr val="DC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334670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46557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6499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01568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九大功能模块、顶层用例图、核心业务闭环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51008" y="3474720"/>
            <a:ext cx="786384" cy="310896"/>
          </a:xfrm>
          <a:prstGeom prst="roundRect">
            <a:avLst>
              <a:gd name="adj" fmla="val 30000"/>
            </a:avLst>
          </a:prstGeom>
          <a:solidFill>
            <a:srgbClr val="DCE6F2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51008" y="3511296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078224"/>
            <a:ext cx="9692640" cy="10973"/>
          </a:xfrm>
          <a:prstGeom prst="rect">
            <a:avLst/>
          </a:prstGeom>
          <a:solidFill>
            <a:srgbClr val="DC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37083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48970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3891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需求规模与追溯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425696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系统需求分配与用户需求对照表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102352"/>
            <a:ext cx="9692640" cy="10973"/>
          </a:xfrm>
          <a:prstGeom prst="rect">
            <a:avLst/>
          </a:prstGeom>
          <a:solidFill>
            <a:srgbClr val="DC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539496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5513832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41324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非功能需求与约束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449824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性能、质量指标与开发约束、下一步计划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3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>
                <a:solidFill>
                  <a:srgbClr val="45619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1188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651760"/>
            <a:ext cx="658368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本部分内容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校园里的“顺路需求”与三个共同特点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现有群聊方式的三大痛点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系统定位、解决思路与项目边界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4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01　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项目背景（一）：校园里的“顺路需求”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校园生活中存在大量“顺路即可完成”的即时性需求，供需双方都是在校学生。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83664"/>
            <a:ext cx="3502152" cy="11887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30632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报酬低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05456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金额小，靠人情难以长期维持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83664"/>
            <a:ext cx="3502152" cy="11887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2048256"/>
            <a:ext cx="30632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时间紧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505456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多为即时需求，等不起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883664"/>
            <a:ext cx="3502152" cy="11887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048256"/>
            <a:ext cx="30632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地点分散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505456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宿舍、教学楼、快递站之间来回跑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64992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典型场景与现状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3749040"/>
            <a:ext cx="109728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950208"/>
            <a:ext cx="1088136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典型场景：取快递、带饭、代买日用品、送材料到另一栋教学楼、还书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目前这些需求主要依靠宿舍群、班级群中临时喊人解决，缺少专门承载平台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结论：需要一个专门平台把零散需求集中起来，实现快速匹配与规范约束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5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01　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项目背景（二）：现有方式与三大痛点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3502152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41732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信息不集中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48256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需求散落在多个聊天群，发出后很快被刷屏，发布者与接单者难以匹配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98448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98448"/>
            <a:ext cx="3502152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41732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没有约束机制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048256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双方依靠口头约定，出现爽约、拖延、物品损坏时缺少记录和调解依据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298448"/>
            <a:ext cx="350215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2" y="1298448"/>
            <a:ext cx="3502152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41732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报酬结算不便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48256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线下转账金额小、频次高，双方都觉得麻烦，也容易忘记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10872216" cy="1005840"/>
          </a:xfrm>
          <a:prstGeom prst="roundRect">
            <a:avLst>
              <a:gd name="adj" fmla="val 8000"/>
            </a:avLst>
          </a:prstGeom>
          <a:solidFill>
            <a:srgbClr val="DCE6F2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78224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直接结果：需求方找不到人，愿意跑腿的同学也接不到单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项目意义：盘活校园“顺路劳动力”，提高校内资源使用效率；作为课程项目，重在软件工程方法的完整实践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75504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这正是本项目要解决的问题：把需求集中、把过程约束起来、把结算自动化。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6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01　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项目定位与解决思路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15214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系统定位：面向校园场景的跑腿任务平台，B/S 架构，浏览器直接访问，无需安装客户端。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2395728" cy="106070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65376"/>
            <a:ext cx="2029968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信息不集中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2103120"/>
            <a:ext cx="475488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85616" y="1719072"/>
            <a:ext cx="7744968" cy="106070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18379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统一任务池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31136"/>
            <a:ext cx="7269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任务发布后自动进入待接单池，全部跑腿员可浏览、可筛选、可分页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26080"/>
            <a:ext cx="2395728" cy="106070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072384"/>
            <a:ext cx="2029968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没有约束机制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82112" y="3310128"/>
            <a:ext cx="475488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85616" y="2926080"/>
            <a:ext cx="7744968" cy="106070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304495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状态 + 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438144"/>
            <a:ext cx="7269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五种任务状态规范流转，关键操作自动写日志，过程全程可追溯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33088"/>
            <a:ext cx="2395728" cy="106070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279392"/>
            <a:ext cx="2029968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结算不便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82112" y="4517136"/>
            <a:ext cx="475488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785616" y="4133088"/>
            <a:ext cx="7744968" cy="106070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4251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虚拟币自动结算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45152"/>
            <a:ext cx="7269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发布时扣款暂存，完成时自动计入跑腿员账户并生成交易流水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94960"/>
            <a:ext cx="10872216" cy="84124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541264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项目边界：课程实践项目，采用虚拟币（积分）作为报酬，不接入任何真实支付渠道，不产生真实资金往来。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7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系统目标与项目特色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188720"/>
            <a:ext cx="10872216" cy="932688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FB8DC"/>
                </a:solidFill>
                <a:latin typeface="微软雅黑"/>
                <a:ea typeface="微软雅黑"/>
                <a:cs typeface="微软雅黑"/>
              </a:rPr>
              <a:t>系统目标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103327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打造界面简洁、流程闭环、过程可追溯的校园跑腿任务平台，让即时性需求快速匹配、任务过程与报酬结算都有据可查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95728"/>
            <a:ext cx="5257800" cy="144475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395728"/>
            <a:ext cx="64008" cy="14447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4203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特色一　完整闭环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62656"/>
            <a:ext cx="470916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 → 接单 → 送达 → 验收 → 结算 → 评价，每一步都有明确的状态与责任人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395728"/>
            <a:ext cx="5257800" cy="144475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2784" y="2395728"/>
            <a:ext cx="64008" cy="14447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254203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特色二　校内场景适配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62656"/>
            <a:ext cx="470916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设“取件地点”“送件地点”两个字段，直接对应宿舍楼、教学楼、快递站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41648"/>
            <a:ext cx="5257800" cy="144475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041648"/>
            <a:ext cx="64008" cy="14447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18795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特色三　虚拟币结算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08576"/>
            <a:ext cx="470916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系统自动入账并生成流水，免去小额线下转账，规避真实支付风险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4041648"/>
            <a:ext cx="5257800" cy="144475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4041648"/>
            <a:ext cx="64008" cy="14447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418795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特色四　可追溯可调解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608576"/>
            <a:ext cx="470916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操作日志、取消申请、争议裁决与投诉处理构成完整的事后处置链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24144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三条主线共同回答：需求如何被看见、过程如何被约束、报酬如何被结清。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8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用户角色与特征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07008"/>
            <a:ext cx="350215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207008"/>
            <a:ext cx="3502152" cy="676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627632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9FB8DC"/>
                </a:solidFill>
                <a:latin typeface="微软雅黑"/>
                <a:ea typeface="微软雅黑"/>
                <a:cs typeface="微软雅黑"/>
              </a:rPr>
              <a:t>在校师生 · 使用频次中等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04288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有代取、代买、代送等即时性需求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单次使用时间短，希望“发出去就有人接”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关注任务是否能被及时接单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621024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权限范围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895344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注册登录、修改个人资料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发布任务、查看本人任务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确认完成、取消申请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评价跑腿员、查看交易与通知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07008"/>
            <a:ext cx="350215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207008"/>
            <a:ext cx="3502152" cy="676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6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跑腿员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1627632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9FB8DC"/>
                </a:solidFill>
                <a:latin typeface="微软雅黑"/>
                <a:ea typeface="微软雅黑"/>
                <a:cs typeface="微软雅黑"/>
              </a:rPr>
              <a:t>在校学生 · 使用频次高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029968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304288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利用空闲时间接单赚取虚拟币（积分）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关注报酬高低与地点是否顺路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需要快速浏览与抢单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621024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权限范围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895344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浏览待接单列表、接单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查看本人接单、确认送达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查看收益与交易明细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发起取消申请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1207008"/>
            <a:ext cx="350215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8432" y="1207008"/>
            <a:ext cx="3502152" cy="67665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管理员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627632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9FB8DC"/>
                </a:solidFill>
                <a:latin typeface="微软雅黑"/>
                <a:ea typeface="微软雅黑"/>
                <a:cs typeface="微软雅黑"/>
              </a:rPr>
              <a:t>系统运维人员 · 按需使用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029968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特征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304288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负责用户、任务、交易与投诉监管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关注异常任务与争议订单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需要快速定位问题并作出处理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621024"/>
            <a:ext cx="3063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权限范围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895344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管理端登录，校验管理员角色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用户 / 任务 / 交易查询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异常订单处理、处理投诉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查看操作日志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说明：发布者与跑腿员不互斥，同一账号既可发布也可接单；三类用户均无需专门培训即可上手。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9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>
                <a:solidFill>
                  <a:srgbClr val="45619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1188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651760"/>
            <a:ext cx="658368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本部分内容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九大功能模块与模块划分依据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全系统顶层用例图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核心业务闭环与五种任务状态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四个模块组的关键设计要点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10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03　主要功能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主要功能总览：九大功能模块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097280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划分依据：以跑腿任务的生命周期为主线，再叠加四块横切功能，每个模块都有明确的触发者与前置状态。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16824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7373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71907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94560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注册、登录、账号解锁、资料维护、登录态、权限校验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536192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80560" y="16824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7373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71907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任务发布管理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94560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发布任务、我的任务、状态流转、历史查询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536192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56448" y="16824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7373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1719072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接单与执行管理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194560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待接单列表、接单、状态更新、确认送达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45536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" y="3291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467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32841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验收与结算管理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803904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送达通知、确认完成、报酬结算、防重复结算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3145536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80560" y="3291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0" y="33467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32841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评价管理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3803904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星级与文字评价、跑腿员主页评价展示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4" y="3145536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56448" y="3291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56448" y="33467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328416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积分与虚拟币管理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3803904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报酬入账、累计收益、交易明细、余额校验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54880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04672" y="49011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" y="495604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1872" y="4937760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取消与争议处理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413248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取消申请与应答、管理员裁决、异常订单处理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4256" y="4754880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80560" y="49011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495604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37760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管理端管理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136" y="5413248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用户/任务/交易查询、投诉处理、操作日志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10144" y="4754880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156448" y="49011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56448" y="495604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3648" y="4937760"/>
            <a:ext cx="2779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通知与操作日志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5413248"/>
            <a:ext cx="3163824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站内通知、未读提醒、关键操作日志、投诉提交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11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03　主要功能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全系统顶层用例图（图 3.1-1）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72768" y="1042416"/>
            <a:ext cx="9052560" cy="548640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496" y="1188720"/>
            <a:ext cx="7918704" cy="4805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5648" y="6035040"/>
            <a:ext cx="86868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三类外部角色（发布者、跑腿员、管理员）与九个功能模块的用例关系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12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核心业务闭环与任务状态流转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Chevron 5"/>
          <p:cNvSpPr/>
          <p:nvPr/>
        </p:nvSpPr>
        <p:spPr>
          <a:xfrm>
            <a:off x="658368" y="1133856"/>
            <a:ext cx="1933956" cy="65836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7" name="Chevron 6"/>
          <p:cNvSpPr/>
          <p:nvPr/>
        </p:nvSpPr>
        <p:spPr>
          <a:xfrm>
            <a:off x="2446020" y="1133856"/>
            <a:ext cx="1933956" cy="65836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接单</a:t>
            </a:r>
          </a:p>
        </p:txBody>
      </p:sp>
      <p:sp>
        <p:nvSpPr>
          <p:cNvPr id="8" name="Chevron 7"/>
          <p:cNvSpPr/>
          <p:nvPr/>
        </p:nvSpPr>
        <p:spPr>
          <a:xfrm>
            <a:off x="4233672" y="1133856"/>
            <a:ext cx="1933956" cy="65836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送达</a:t>
            </a:r>
          </a:p>
        </p:txBody>
      </p:sp>
      <p:sp>
        <p:nvSpPr>
          <p:cNvPr id="9" name="Chevron 8"/>
          <p:cNvSpPr/>
          <p:nvPr/>
        </p:nvSpPr>
        <p:spPr>
          <a:xfrm>
            <a:off x="6021324" y="1133856"/>
            <a:ext cx="1933956" cy="65836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10" name="Chevron 9"/>
          <p:cNvSpPr/>
          <p:nvPr/>
        </p:nvSpPr>
        <p:spPr>
          <a:xfrm>
            <a:off x="7808976" y="1133856"/>
            <a:ext cx="1933956" cy="65836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结算</a:t>
            </a:r>
          </a:p>
        </p:txBody>
      </p:sp>
      <p:sp>
        <p:nvSpPr>
          <p:cNvPr id="11" name="Chevron 10"/>
          <p:cNvSpPr/>
          <p:nvPr/>
        </p:nvSpPr>
        <p:spPr>
          <a:xfrm>
            <a:off x="9596628" y="1133856"/>
            <a:ext cx="1933956" cy="658368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57984"/>
            <a:ext cx="205740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2157984"/>
            <a:ext cx="2057400" cy="914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待接单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79776"/>
            <a:ext cx="172821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发布成功即进入待接单池，全部跑腿员可见、可接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2157984"/>
            <a:ext cx="205740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62072" y="2157984"/>
            <a:ext cx="2057400" cy="914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26664" y="2377440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进行中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779776"/>
            <a:ext cx="172821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被接单后移出待接单池，其他跑腿员不可再接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157984"/>
            <a:ext cx="205740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65776" y="2157984"/>
            <a:ext cx="2057400" cy="914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0368" y="2377440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待验收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779776"/>
            <a:ext cx="172821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跑腿员确认送达，系统向发布者发送送达通知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157984"/>
            <a:ext cx="205740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9480" y="2157984"/>
            <a:ext cx="2057400" cy="914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2" y="2377440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2779776"/>
            <a:ext cx="172821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发布者确认完成，报酬入账并生成交易流水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3184" y="2157984"/>
            <a:ext cx="205740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73184" y="2157984"/>
            <a:ext cx="205740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37776" y="2377440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已取消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779776"/>
            <a:ext cx="172821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取消申请获对方同意，或由管理员裁决、强制取消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626864"/>
            <a:ext cx="10872216" cy="969264"/>
          </a:xfrm>
          <a:prstGeom prst="roundRect">
            <a:avLst>
              <a:gd name="adj" fmla="val 8000"/>
            </a:avLst>
          </a:prstGeom>
          <a:solidFill>
            <a:srgbClr val="DCE6F2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809744"/>
            <a:ext cx="103327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状态约束：同一任务任意时刻只处于一种状态，只能由对应的业务操作触发；系统不提供直接修改状态的入口，保证流程不能被绕过。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790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流程图与状态机均在文档第 3 章给出，这里是答辩用的简化视图。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13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03　主要功能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主要功能详解（一）：用户管理与任务发布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672084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用户管理 XYP-SRS-1.x：注册时提交账号、密码与角色，角色注册后不可自行更改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登录安全：连续三次密码错误锁定账号 30 分钟，锁定期间密码正确也拒绝登录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登录态有效期 7 天；所有功能校验登录状态与角色，越权访问管理端一律拒绝并记录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任务发布管理 XYP-SRS-2.x：标题、描述、报酬、截止时间、取件地点、送件地点六项必填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发布前校验：报酬大于零、截止时间晚于当前时间、必填项完整、发布者余额充足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报酬暂存：发布时即从发布者账户扣除并暂存，余额不得为负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发布者可按五种状态查看本人任务，并按时间范围查询已完成任务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225296"/>
            <a:ext cx="3831336" cy="4846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99248" y="1225296"/>
            <a:ext cx="3831336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4264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这一页的关键点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810512"/>
            <a:ext cx="73152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73568" y="199339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212140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连续三次密码错误即锁定账号 30 分钟，锁定期间即使密码正确也拒绝登录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09067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321868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越权访问管理端一律拒绝，并把该次访问记入操作日志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18795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431596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发布任务时即扣款暂存，保证跑腿员收益不会因发布者余额不足而无法结算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14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03　主要功能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主要功能详解（二）：接单执行与验收结算（重点）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672084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接单与执行 XYP-SRS-3.x：任务发布后自动进入待接单池，全部跑腿员可浏览，列表分页显示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并发抢单：多人同时接单只允许一人成功，其余人收到“该任务已被他人认领”的提示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接单成功 → 进行中并移出待接单池；确认送达 → 待验收并通知发布者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验收与结算 XYP-SRS-4.x：确认完成 → 状态置为已完成 + 报酬入账 + 生成交易流水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一致性要求：状态更新与报酬入账在同一事务中完成，二者要么全部成功、要么全部失败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重复结算防护：对同一任务重复点击确认完成，报酬只增加一次，不产生重复流水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并发冲突处理：接单、取消、送达、验收冲突时，只有符合最新状态的一次操作成功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结算完成后，发布者可对跑腿员进行星级与文字评价，每条任务只能评价一次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225296"/>
            <a:ext cx="3831336" cy="4846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99248" y="1225296"/>
            <a:ext cx="3831336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4264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核心设计要点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810512"/>
            <a:ext cx="73152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73568" y="199339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212140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并发抢单只允许一人成功，避免一单多人接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09067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321868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状态更新与报酬入账严格同事务，不允许只发生其中一项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18795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431596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重复确认只加一次钱；冲突时以最新状态为准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15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03　主要功能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主要功能详解（三）：积分虚拟币、评价、取消与争议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672084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积分与虚拟币 XYP-SRS-6.x：报酬入账、累计收益统计、交易明细查询、余额校验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交易流水字段：流水号、用户、订单号、流水类型（入账/支出/罚款/补偿/冻结/解冻）、变动金额、变动后余额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评价管理 XYP-SRS-5.x：仅已完成任务可评价，跑腿员主页展示平均星级与评价列表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取消与争议 XYP-SRS-7.x：任务进行中，发布者或跑腿员可发起取消申请，必须填写取消原因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对方同意 → 置为已取消并按约定退还报酬；对方拒绝 → 转为争议，等待管理员处理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管理员裁决：支持申诉方 / 支持被申诉方 / 各担一半，结果回写到任务状态与账务记录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异常订单判定：超过任务截止时间 24 小时仍未完成，管理员可强制取消或调整状态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225296"/>
            <a:ext cx="3831336" cy="4846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99248" y="1225296"/>
            <a:ext cx="3831336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4264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账务与异常兜底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810512"/>
            <a:ext cx="73152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73568" y="199339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212140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每笔变动都生成流水，记录类型、金额与变动后余额，账目可核对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09067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321868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取消必须走申请流程：同意才退款，拒绝即转争议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18795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431596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超截止 24 小时未完成判为异常订单，由管理员处置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16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03　主要功能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主要功能详解（四）：管理端与通知日志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672084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管理端管理 XYP-SRS-8.x：管理员通过管理端入口登录，系统校验管理员角色后方可进入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用户信息查询：支持按学号、姓名模糊查询，密码不以明文形式展示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任务查询：按状态、发布时间、发布者筛选；交易查询：按时间区间与用户筛选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管理端同时提供异常订单处理（超截止 24 小时）、投诉处理与操作日志查询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通知与操作日志 XYP-SRS-9.x：任务被接单、送达、完成、取消申请等状态变更时自动发送站内通知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查看通知：显示未读数量、支持标记已读；用户可针对某条任务提交投诉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5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关键操作（发布、接单、送达、确认、取消）自动记录日志，日志只可新增，不可修改或删除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225296"/>
            <a:ext cx="3831336" cy="4846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99248" y="1225296"/>
            <a:ext cx="3831336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4264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监管与留痕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810512"/>
            <a:ext cx="73152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73568" y="199339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212140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管理端集中处理异常订单、投诉与日志查询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309067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321868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通知由系统在状态变更时自动发送，用户可查未读数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4187952"/>
            <a:ext cx="327355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4315968"/>
            <a:ext cx="28895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操作日志只增不改不删，保证事后审计可信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17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>
                <a:solidFill>
                  <a:srgbClr val="45619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1188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需求规模与约束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651760"/>
            <a:ext cx="658368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2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本部分内容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需求规模与用户需求对照追溯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性能、质量与安全等非功能指标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· 开发约束与下一步计划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18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04　需求规模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需求规模与需求追溯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243584"/>
            <a:ext cx="2615184" cy="1874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389888"/>
            <a:ext cx="224942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个功能模块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6032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覆盖任务全生命周期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243584"/>
            <a:ext cx="2615184" cy="1874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389888"/>
            <a:ext cx="224942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12848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条系统需求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6032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XYP-SRS-1.1.0—9.6.0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243584"/>
            <a:ext cx="2615184" cy="1874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1389888"/>
            <a:ext cx="224942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212848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条用户需求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56032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XYP-USR-0001—0025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243584"/>
            <a:ext cx="2615184" cy="1874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389888"/>
            <a:ext cx="224942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12848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行对照记录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6032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用户需求 ↔ 系统需求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01568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需求组织方式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785616"/>
            <a:ext cx="109728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986784"/>
            <a:ext cx="108813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25 条用户需求中 23 条映射到具体系统需求编号；2 条非功能需求在第 5 章性能需求中落实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用例描述统一八要素：用例描述、优先级、前置条件、后置条件、参与者、输入数据、输出数据、事件流</a:t>
            </a:r>
          </a:p>
          <a:p>
            <a:pPr marL="237744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2E74B5"/>
              </a:buClr>
              <a:buFont typeface="Arial"/>
              <a:buChar char="•"/>
            </a:pPr>
            <a:r>
              <a:rPr sz="14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优先级采用 1—6 表示，1 为最高；复杂用例配活动图，简单用例采用成功流 / 失败流文字描述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19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PART 05　约束与计划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2062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非功能需求与开发约束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24128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207008"/>
            <a:ext cx="3529584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64008" cy="18836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时间特性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任务列表页面 2 秒内加载，其余页面 4 秒内；指标在 100 名用户同时使用条件下测量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207008"/>
            <a:ext cx="3529584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1207008"/>
            <a:ext cx="64008" cy="18836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371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数据精确度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73936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不允许重复扣款、重复加钱或漏记流水；报酬以整数虚拟币为单位存储与计算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207008"/>
            <a:ext cx="3529584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1207008"/>
            <a:ext cx="64008" cy="18836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71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容量与资源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73936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1000 注册用户、单日 200 条任务、累计 10 万条流水；列表默认每页 10 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73552"/>
            <a:ext cx="3529584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273552"/>
            <a:ext cx="64008" cy="18836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4381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可靠性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40480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作为设计目标，连续无故障运行不少于 120000 小时，故障后 0.5 小时内恢复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273552"/>
            <a:ext cx="3529584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256" y="3273552"/>
            <a:ext cx="64008" cy="18836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34381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安全与私密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密码不明文存储与传输、角色权限校验、日志只增不改不删；联系方式按任务关系可见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3273552"/>
            <a:ext cx="3529584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10144" y="3273552"/>
            <a:ext cx="64008" cy="18836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34381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运行环境与约束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840480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B/S 架构：Vue + SpringBoot + MySQL 8.0 + JDK 11 / Tomcat 9.0；Git 分支开发，不接入真实支付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3949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以上指标同时作为概要设计阶段的验收依据。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0" y="6455664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A6A6A6"/>
                </a:solidFill>
                <a:latin typeface="微软雅黑"/>
                <a:ea typeface="微软雅黑"/>
                <a:cs typeface="微软雅黑"/>
              </a:rPr>
              <a:t>20 /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29260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总结与下一步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96112"/>
            <a:ext cx="118872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225296"/>
            <a:ext cx="512064" cy="512064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35024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2435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背景清晰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6187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校园即时性需求“报酬低、时间紧、地点分散”，现有群聊方式在匹配、约束、结算三方面失效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512064" cy="512064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011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方案明确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2996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统一任务池 + 五状态闭环 + 虚拟币自动结算 + 日志与争议机制，逐条回应三类痛点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61488"/>
            <a:ext cx="512064" cy="512064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71216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7977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98064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 个模块、45 条系统需求与 25 条用户需求逐条对照，性能与质量指标均已量化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8"/>
            <a:ext cx="10872216" cy="11887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A8C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下一步：进入概要设计阶段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完成数据库表结构设计、接口定义，并补充附件 A 的分析类图、分析顺序图与分析状态图。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138928"/>
            <a:ext cx="10872216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138928"/>
            <a:ext cx="1087221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以上是本次需求分析的汇报　·　恳请老师与各位同学批评指正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1949</Words>
  <Application>Microsoft Office PowerPoint</Application>
  <PresentationFormat>宽屏</PresentationFormat>
  <Paragraphs>323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丘人 邱</cp:lastModifiedBy>
  <cp:revision>2</cp:revision>
  <dcterms:created xsi:type="dcterms:W3CDTF">2013-01-27T09:14:16Z</dcterms:created>
  <dcterms:modified xsi:type="dcterms:W3CDTF">2026-09-29T14:32:20Z</dcterms:modified>
  <cp:category/>
</cp:coreProperties>
</file>